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b910e2675b4e54" /><Relationship Type="http://schemas.openxmlformats.org/officeDocument/2006/relationships/extended-properties" Target="/docProps/app.xml" Id="R3ee796b6d09f425d" /><Relationship Type="http://schemas.openxmlformats.org/officeDocument/2006/relationships/officeDocument" Target="/ppt/presentation.xml" Id="R23741bfceef748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d6ba459a75462c"/>
  </p:sldMasterIdLst>
  <p:notesMasterIdLst>
    <p:notesMasterId xmlns:r="http://schemas.openxmlformats.org/officeDocument/2006/relationships" r:id="Rd18ee8478e5b4ede"/>
  </p:notesMasterIdLst>
  <p:sldIdLst>
    <p:sldId xmlns:r="http://schemas.openxmlformats.org/officeDocument/2006/relationships" id="256" r:id="R77d9f2cf192442d0"/>
    <p:sldId xmlns:r="http://schemas.openxmlformats.org/officeDocument/2006/relationships" id="257" r:id="R1af6a03d51bd4b71"/>
    <p:sldId xmlns:r="http://schemas.openxmlformats.org/officeDocument/2006/relationships" id="258" r:id="R349dc3cf0b364e1d"/>
    <p:sldId xmlns:r="http://schemas.openxmlformats.org/officeDocument/2006/relationships" id="259" r:id="R5126444161994c63"/>
    <p:sldId xmlns:r="http://schemas.openxmlformats.org/officeDocument/2006/relationships" id="260" r:id="R34cfa64ddbef4fa3"/>
    <p:sldId xmlns:r="http://schemas.openxmlformats.org/officeDocument/2006/relationships" id="261" r:id="R0a3685cf73b44cee"/>
    <p:sldId xmlns:r="http://schemas.openxmlformats.org/officeDocument/2006/relationships" id="262" r:id="Rff52848957704959"/>
    <p:sldId xmlns:r="http://schemas.openxmlformats.org/officeDocument/2006/relationships" id="263" r:id="Rf74ae41184ac4ebf"/>
    <p:sldId xmlns:r="http://schemas.openxmlformats.org/officeDocument/2006/relationships" id="264" r:id="R5756e4531d804f2d"/>
    <p:sldId xmlns:r="http://schemas.openxmlformats.org/officeDocument/2006/relationships" id="265" r:id="R32c674ff7e8b42bb"/>
    <p:sldId xmlns:r="http://schemas.openxmlformats.org/officeDocument/2006/relationships" id="266" r:id="R6344ab4afb904cd3"/>
    <p:sldId xmlns:r="http://schemas.openxmlformats.org/officeDocument/2006/relationships" id="267" r:id="R5a5eab47e86149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761b22c6444664" /><Relationship Type="http://schemas.openxmlformats.org/officeDocument/2006/relationships/slideMaster" Target="/ppt/slideMasters/slideMaster1.xml" Id="R0ed6ba459a75462c" /><Relationship Type="http://schemas.openxmlformats.org/officeDocument/2006/relationships/notesMaster" Target="/ppt/notesMasters/notesMaster1.xml" Id="Rd18ee8478e5b4ede" /><Relationship Type="http://schemas.openxmlformats.org/officeDocument/2006/relationships/presProps" Target="/ppt/presProps.xml" Id="Rf991dbee99ca4103" /><Relationship Type="http://schemas.openxmlformats.org/officeDocument/2006/relationships/tableStyles" Target="/ppt/tableStyles.xml" Id="Rf791bf2493724c18" /><Relationship Type="http://schemas.openxmlformats.org/officeDocument/2006/relationships/slide" Target="/ppt/slides/slide1.xml" Id="R77d9f2cf192442d0" /><Relationship Type="http://schemas.openxmlformats.org/officeDocument/2006/relationships/slide" Target="/ppt/slides/slide2.xml" Id="R1af6a03d51bd4b71" /><Relationship Type="http://schemas.openxmlformats.org/officeDocument/2006/relationships/slide" Target="/ppt/slides/slide3.xml" Id="R349dc3cf0b364e1d" /><Relationship Type="http://schemas.openxmlformats.org/officeDocument/2006/relationships/slide" Target="/ppt/slides/slide4.xml" Id="R5126444161994c63" /><Relationship Type="http://schemas.openxmlformats.org/officeDocument/2006/relationships/slide" Target="/ppt/slides/slide5.xml" Id="R34cfa64ddbef4fa3" /><Relationship Type="http://schemas.openxmlformats.org/officeDocument/2006/relationships/slide" Target="/ppt/slides/slide6.xml" Id="R0a3685cf73b44cee" /><Relationship Type="http://schemas.openxmlformats.org/officeDocument/2006/relationships/slide" Target="/ppt/slides/slide7.xml" Id="Rff52848957704959" /><Relationship Type="http://schemas.openxmlformats.org/officeDocument/2006/relationships/slide" Target="/ppt/slides/slide8.xml" Id="Rf74ae41184ac4ebf" /><Relationship Type="http://schemas.openxmlformats.org/officeDocument/2006/relationships/slide" Target="/ppt/slides/slide9.xml" Id="R5756e4531d804f2d" /><Relationship Type="http://schemas.openxmlformats.org/officeDocument/2006/relationships/slide" Target="/ppt/slides/slide10.xml" Id="R32c674ff7e8b42bb" /><Relationship Type="http://schemas.openxmlformats.org/officeDocument/2006/relationships/slide" Target="/ppt/slides/slide11.xml" Id="R6344ab4afb904cd3" /><Relationship Type="http://schemas.openxmlformats.org/officeDocument/2006/relationships/slide" Target="/ppt/slides/slide12.xml" Id="R5a5eab47e86149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940d6343d44f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55a549b7804867" /><Relationship Type="http://schemas.openxmlformats.org/officeDocument/2006/relationships/notesMaster" Target="/ppt/notesMasters/notesMaster1.xml" Id="Rc101260141ad45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fadc230c4941b3" /><Relationship Type="http://schemas.openxmlformats.org/officeDocument/2006/relationships/notesMaster" Target="/ppt/notesMasters/notesMaster1.xml" Id="R467ef47bd93944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824c323ebf460d" /><Relationship Type="http://schemas.openxmlformats.org/officeDocument/2006/relationships/notesMaster" Target="/ppt/notesMasters/notesMaster1.xml" Id="R12d393d45a2444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77b78b11c64164" /><Relationship Type="http://schemas.openxmlformats.org/officeDocument/2006/relationships/notesMaster" Target="/ppt/notesMasters/notesMaster1.xml" Id="R788fb9c1addd42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ca3b7f4e114bfc" /><Relationship Type="http://schemas.openxmlformats.org/officeDocument/2006/relationships/notesMaster" Target="/ppt/notesMasters/notesMaster1.xml" Id="Rfe0f6aa50a9347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72cd41dde140bd" /><Relationship Type="http://schemas.openxmlformats.org/officeDocument/2006/relationships/notesMaster" Target="/ppt/notesMasters/notesMaster1.xml" Id="R73309344c6c94e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2f1eb4f0d74924" /><Relationship Type="http://schemas.openxmlformats.org/officeDocument/2006/relationships/notesMaster" Target="/ppt/notesMasters/notesMaster1.xml" Id="R59ec15a43fa848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df46fc2c394437" /><Relationship Type="http://schemas.openxmlformats.org/officeDocument/2006/relationships/notesMaster" Target="/ppt/notesMasters/notesMaster1.xml" Id="Rba37a501a07e43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db538ac1b5474a" /><Relationship Type="http://schemas.openxmlformats.org/officeDocument/2006/relationships/notesMaster" Target="/ppt/notesMasters/notesMaster1.xml" Id="Rde20c805269b4e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6b7316b84b4491" /><Relationship Type="http://schemas.openxmlformats.org/officeDocument/2006/relationships/notesMaster" Target="/ppt/notesMasters/notesMaster1.xml" Id="R5e90f034d64a4d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6f39741ef24a4a" /><Relationship Type="http://schemas.openxmlformats.org/officeDocument/2006/relationships/notesMaster" Target="/ppt/notesMasters/notesMaster1.xml" Id="Rdf48edf8bbaf44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d12f3db99e4383" /><Relationship Type="http://schemas.openxmlformats.org/officeDocument/2006/relationships/notesMaster" Target="/ppt/notesMasters/notesMaster1.xml" Id="Ra7625a6f462044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Patel, Shrenik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with the promise: FlashTile brings learning to employees instead of asking employees to leave their workflow to find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/Users/shree/Documents/Codex/2026-09-03/what-is-the-latest-version/presentation-build/assets/logo.png</a:t>
            </a:r>
          </a:p>
          <a:p xmlns:a="http://schemas.openxmlformats.org/drawingml/2006/main">
            <a:r>
              <a:t>- /Users/shree/Documents/Codex/2026-09-03/what-is-the-latest-version/FlashTile-RC15/docs/Vision.md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Patel, Shrenik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 the problem without criticizing existing learning platforms. The opportunity is to complement them with a lightweight daily entry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/Users/shree/Documents/Codex/2026-09-03/what-is-the-latest-version/FlashTile-RC15/docs/Proposal.md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Tran, Victoria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Demonstrate the fixed tile size and emphasize that the product deliberately avoids a dashboard or full-screen shell.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/Users/shree/Documents/Codex/2026-09-03/what-is-the-latest-version/presentation-build/assets/welcome.png</a:t>
            </a:r>
          </a:p>
          <a:p xmlns:a="http://schemas.openxmlformats.org/drawingml/2006/main">
            <a:r>
              <a:t>- /Users/shree/Documents/Codex/2026-09-03/what-is-the-latest-version/FlashTile-RC15/README.md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Tran, Victoria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left to right. Stress that the sequence is deterministic and category-bound: AWS remains AWS until the learner changes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/Users/shree/Documents/Codex/2026-09-03/what-is-the-latest-version/FlashTile-RC15/README.md</a:t>
            </a:r>
          </a:p>
          <a:p xmlns:a="http://schemas.openxmlformats.org/drawingml/2006/main">
            <a:r>
              <a:t>- /Users/shree/Documents/Codex/2026-09-03/what-is-the-latest-version/FlashTile-RC15/services/learning_service.py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Edupuganti, Kranthima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screenshots to show that FlashTile teaches before it tests. The practical scenario is deliberately different from the quiz formulation.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/Users/shree/Documents/Codex/2026-09-03/what-is-the-latest-version/presentation-build/assets/lesson.png</a:t>
            </a:r>
          </a:p>
          <a:p xmlns:a="http://schemas.openxmlformats.org/drawingml/2006/main">
            <a:r>
              <a:t>- /Users/shree/Documents/Codex/2026-09-03/what-is-the-latest-version/presentation-build/assets/scenario.png</a:t>
            </a:r>
          </a:p>
          <a:p xmlns:a="http://schemas.openxmlformats.org/drawingml/2006/main">
            <a:r>
              <a:t>- /Users/shree/Documents/Codex/2026-09-03/what-is-the-latest-version/presentation-build/assets/quiz.png</a:t>
            </a:r>
          </a:p>
          <a:p xmlns:a="http://schemas.openxmlformats.org/drawingml/2006/main">
            <a:r>
              <a:t>- /Users/shree/Documents/Codex/2026-09-03/what-is-the-latest-version/FlashTile-RC15/docs/LearningMethod.md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Edupuganti, Kranthima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 every differentiator back to learning. The breathing action and team recognition are intentionally secondary, not separate product pillars.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/Users/shree/Documents/Codex/2026-09-03/what-is-the-latest-version/FlashTile-RC15/README.md</a:t>
            </a:r>
          </a:p>
          <a:p xmlns:a="http://schemas.openxmlformats.org/drawingml/2006/main">
            <a:r>
              <a:t>- /Users/shree/Documents/Codex/2026-09-03/what-is-the-latest-version/FlashTile-RC15/docs/LearningMethod.md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Griffin, Trey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implementation facts from RC15—not adoption claims. Mention that 29 tests cover the corrected three-goal mapping and category-only navigation.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/Users/shree/Documents/Codex/2026-09-03/what-is-the-latest-version/presentation-build/assets/progress.png</a:t>
            </a:r>
          </a:p>
          <a:p xmlns:a="http://schemas.openxmlformats.org/drawingml/2006/main">
            <a:r>
              <a:t>- /Users/shree/Documents/Codex/2026-09-03/what-is-the-latest-version/FlashTile-RC15/README.md</a:t>
            </a:r>
          </a:p>
          <a:p xmlns:a="http://schemas.openxmlformats.org/drawingml/2006/main">
            <a:r>
              <a:t>- /Users/shree/Documents/Codex/2026-09-03/what-is-the-latest-version/FlashTile-RC15/tests/test_learning_service.py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Griffin, Trey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 explicit that RC15 does not claim production SSO or live AI. The architecture is ready for those controlled integrations after governance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/Users/shree/Documents/Codex/2026-09-03/what-is-the-latest-version/FlashTile-RC15/docs/Vision.md</a:t>
            </a:r>
          </a:p>
          <a:p xmlns:a="http://schemas.openxmlformats.org/drawingml/2006/main">
            <a:r>
              <a:t>- /Users/shree/Documents/Codex/2026-09-03/what-is-the-latest-version/FlashTile-RC15/README.md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Neel, Jeffrey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Position Team Board as a capability preview using local illustrative data. Emphasize privacy: no personal notes, quiz answers, or confidence ratings are shared.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/Users/shree/Documents/Codex/2026-09-03/what-is-the-latest-version/presentation-build/assets/team.png</a:t>
            </a:r>
          </a:p>
          <a:p xmlns:a="http://schemas.openxmlformats.org/drawingml/2006/main">
            <a:r>
              <a:t>- /Users/shree/Documents/Codex/2026-09-03/what-is-the-latest-version/FlashTile-RC15/services/learning_service.py</a:t>
            </a:r>
          </a:p>
          <a:p xmlns:a="http://schemas.openxmlformats.org/drawingml/2006/main">
            <a:r>
              <a:t>- /Users/shree/Documents/Codex/2026-09-03/what-is-the-latest-version/FlashTile-RC15/docs/UserTestChecklist.md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Neel, Jeffrey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architecture at a business level. Excel proves the workflow now; a later repository or API can replace it behind the same service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/Users/shree/Documents/Codex/2026-09-03/what-is-the-latest-version/FlashTile-RC15/README.md</a:t>
            </a:r>
          </a:p>
          <a:p xmlns:a="http://schemas.openxmlformats.org/drawingml/2006/main">
            <a:r>
              <a:t>- /Users/shree/Documents/Codex/2026-09-03/what-is-the-latest-version/FlashTile-RC15/services/excel_service.py</a:t>
            </a:r>
          </a:p>
          <a:p xmlns:a="http://schemas.openxmlformats.org/drawingml/2006/main">
            <a:r>
              <a:t>- /Users/shree/Documents/Codex/2026-09-03/what-is-the-latest-version/FlashTile-RC15/services/learning_service.py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Talley, Kyle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roadmap deliberately prioritizes acceptance and packaging before AI expansion. Proposed pilot measures are evaluation categories, not claimed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/Users/shree/Documents/Codex/2026-09-03/what-is-the-latest-version/FlashTile-RC15/docs/Roadmap.md</a:t>
            </a:r>
          </a:p>
          <a:p xmlns:a="http://schemas.openxmlformats.org/drawingml/2006/main">
            <a:r>
              <a:t>- /Users/shree/Documents/Codex/2026-09-03/what-is-the-latest-version/FlashTile-RC15/docs/ReleaseChecklist.md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presenter: Talley, Kyle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by returning to the opening promise. Ask judges to evaluate FlashTile as a focused pilot candidate with a working core and a disciplined enterprise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/Users/shree/Documents/Codex/2026-09-03/what-is-the-latest-version/presentation-build/assets/logo.png</a:t>
            </a:r>
          </a:p>
          <a:p xmlns:a="http://schemas.openxmlformats.org/drawingml/2006/main">
            <a:r>
              <a:t>- /Users/shree/Documents/Codex/2026-09-03/what-is-the-latest-version/FlashTile-RC15/docs/Proposal.md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d77ae0a3a48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4fb5d41f84951" /><Relationship Type="http://schemas.openxmlformats.org/officeDocument/2006/relationships/slideLayout" Target="/ppt/slideLayouts/slideLayout1.xml" Id="Re0210501d73647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210501d73647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6d0cd97d745f0" /><Relationship Type="http://schemas.openxmlformats.org/officeDocument/2006/relationships/image" Target="/ppt/media/image.png" Id="Rf88a986d7ed34337" /><Relationship Type="http://schemas.openxmlformats.org/officeDocument/2006/relationships/notesSlide" Target="/ppt/notesSlides/notesSlide1.xml" Id="R4221f70b1f7c47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f093ef9e44f23" /><Relationship Type="http://schemas.openxmlformats.org/officeDocument/2006/relationships/notesSlide" Target="/ppt/notesSlides/notesSlide2.xml" Id="R8fd3fbfe2a3f48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7559615114bee" /><Relationship Type="http://schemas.openxmlformats.org/officeDocument/2006/relationships/image" Target="/ppt/media/image2.png" Id="R76310211be494010" /><Relationship Type="http://schemas.openxmlformats.org/officeDocument/2006/relationships/notesSlide" Target="/ppt/notesSlides/notesSlide3.xml" Id="Ra29959a1d6144f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0e8ddb8234431" /><Relationship Type="http://schemas.openxmlformats.org/officeDocument/2006/relationships/notesSlide" Target="/ppt/notesSlides/notesSlide4.xml" Id="R580bc132884042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ba81d25f444b0" /><Relationship Type="http://schemas.openxmlformats.org/officeDocument/2006/relationships/image" Target="/ppt/media/image3.png" Id="R63973cc17c4246e1" /><Relationship Type="http://schemas.openxmlformats.org/officeDocument/2006/relationships/image" Target="/ppt/media/image4.png" Id="R5597a0a3646f4ab1" /><Relationship Type="http://schemas.openxmlformats.org/officeDocument/2006/relationships/image" Target="/ppt/media/image5.png" Id="R33d887b4d77e48b3" /><Relationship Type="http://schemas.openxmlformats.org/officeDocument/2006/relationships/notesSlide" Target="/ppt/notesSlides/notesSlide5.xml" Id="R0e932f10b11044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e41d44bd945a8" /><Relationship Type="http://schemas.openxmlformats.org/officeDocument/2006/relationships/notesSlide" Target="/ppt/notesSlides/notesSlide6.xml" Id="Ra0604b2470b346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b0e42e05b499f" /><Relationship Type="http://schemas.openxmlformats.org/officeDocument/2006/relationships/image" Target="/ppt/media/image6.png" Id="Rf6fe389909a04ac3" /><Relationship Type="http://schemas.openxmlformats.org/officeDocument/2006/relationships/notesSlide" Target="/ppt/notesSlides/notesSlide7.xml" Id="Ra14b2dc2579346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b0de2bb8f4b93" /><Relationship Type="http://schemas.openxmlformats.org/officeDocument/2006/relationships/notesSlide" Target="/ppt/notesSlides/notesSlide8.xml" Id="R8285d9993e4a47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d09a90b5c4b61" /><Relationship Type="http://schemas.openxmlformats.org/officeDocument/2006/relationships/image" Target="/ppt/media/image7.png" Id="R58fb49c56dc74b01" /><Relationship Type="http://schemas.openxmlformats.org/officeDocument/2006/relationships/notesSlide" Target="/ppt/notesSlides/notesSlide9.xml" Id="R85ded640e96640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74c007a154053" /><Relationship Type="http://schemas.openxmlformats.org/officeDocument/2006/relationships/notesSlide" Target="/ppt/notesSlides/notesSlide10.xml" Id="R82b30efb8d0c44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668611e1244c2" /><Relationship Type="http://schemas.openxmlformats.org/officeDocument/2006/relationships/notesSlide" Target="/ppt/notesSlides/notesSlide11.xml" Id="Rc36aa55d7d3840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72cef9ffd45df" /><Relationship Type="http://schemas.openxmlformats.org/officeDocument/2006/relationships/image" Target="/ppt/media/image8.png" Id="Rda1a522213204da3" /><Relationship Type="http://schemas.openxmlformats.org/officeDocument/2006/relationships/notesSlide" Target="/ppt/notesSlides/notesSlide12.xml" Id="Rd1db6e62fa304e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C7387-2EC5-4704-A206-37499ECE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1F0CC-F97A-404C-999E-B4261409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C8155-CF14-4B23-9095-790C8996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E1FF"/>
                </a:solidFill>
              </a:defRPr>
            </a:pPr>
            <a:r>
              <a:rPr sz="1350" b="1">
                <a:solidFill>
                  <a:srgbClr val="5CE1FF"/>
                </a:solidFill>
              </a:rPr>
              <a:t>FLASHTILE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27A5E-9CE5-429B-94BD-6CDBDCFF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905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7FF"/>
                </a:solidFill>
              </a:defRPr>
            </a:pPr>
            <a:r>
              <a:rPr sz="4350" b="1">
                <a:solidFill>
                  <a:srgbClr val="F4F7FF"/>
                </a:solidFill>
              </a:rPr>
              <a:t>Knowledge that</a:t>
            </a:r>
          </a:p>
          <a:p xmlns:a="http://schemas.openxmlformats.org/drawingml/2006/main">
            <a:pPr algn="l">
              <a:defRPr sz="4350" b="1">
                <a:solidFill>
                  <a:srgbClr val="F4F7FF"/>
                </a:solidFill>
              </a:defRPr>
            </a:pPr>
            <a:r>
              <a:rPr sz="4350" b="1">
                <a:solidFill>
                  <a:srgbClr val="F4F7FF"/>
                </a:solidFill>
              </a:rPr>
              <a:t>finds you.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5FC4E-99F2-4C09-825D-CBAA41F0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6D1"/>
                </a:solidFill>
              </a:defRPr>
            </a:pPr>
            <a:r>
              <a:rPr sz="1800" b="0">
                <a:solidFill>
                  <a:srgbClr val="A8B6D1"/>
                </a:solidFill>
              </a:rPr>
              <a:t>A tile-first enterprise learning companion</a:t>
            </a:r>
          </a:p>
          <a:p xmlns:a="http://schemas.openxmlformats.org/drawingml/2006/main">
            <a:pPr algn="l">
              <a:defRPr sz="1800" b="0">
                <a:solidFill>
                  <a:srgbClr val="A8B6D1"/>
                </a:solidFill>
              </a:defRPr>
            </a:pPr>
            <a:r>
              <a:rPr sz="1800" b="0">
                <a:solidFill>
                  <a:srgbClr val="A8B6D1"/>
                </a:solidFill>
              </a:rPr>
              <a:t>for continuous growth in the flow of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1D57F-B8C5-44B7-A446-B11FDA94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A7952-6318-4A06-89E4-5C045F0F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ENTERPRISE LEARNING CAPSTONE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a986d7ed34337"/>
          <a:stretch xmlns:a="http://schemas.openxmlformats.org/drawingml/2006/main"/>
        </p:blipFill>
        <p:spPr>
          <a:xfrm xmlns:a="http://schemas.openxmlformats.org/drawingml/2006/main">
            <a:off x="7334250" y="1381125"/>
            <a:ext cx="3810000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4AE20-4A3E-4CBF-829A-C58A4C6E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2A2"/>
                </a:solidFill>
              </a:defRPr>
            </a:pPr>
            <a:r>
              <a:rPr sz="1125" b="0">
                <a:solidFill>
                  <a:srgbClr val="7182A2"/>
                </a:solidFill>
              </a:rPr>
              <a:t>Tran, Victoria  •  Edupuganti, Kranthima  •  Griffin, Trey</a:t>
            </a:r>
          </a:p>
          <a:p xmlns:a="http://schemas.openxmlformats.org/drawingml/2006/main">
            <a:pPr algn="l">
              <a:defRPr sz="1125" b="0">
                <a:solidFill>
                  <a:srgbClr val="7182A2"/>
                </a:solidFill>
              </a:defRPr>
            </a:pPr>
            <a:r>
              <a:rPr sz="1125" b="0">
                <a:solidFill>
                  <a:srgbClr val="7182A2"/>
                </a:solidFill>
              </a:rPr>
              <a:t>Neel, Jeffrey  •  Talley, Kyle  •  Patel, Shrenik</a:t>
            </a:r>
          </a:p>
        </p:txBody>
      </p:sp>
    </p:spTree>
    <p:extLst>
      <p:ext uri="{BB962C8B-B14F-4D97-AF65-F5344CB8AC3E}">
        <p14:creationId xmlns:p14="http://schemas.microsoft.com/office/powerpoint/2010/main" val="1023092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B5989-83F5-4326-9806-DBB10739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B9769-EF07-48F8-A0A1-124E21E7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A1608-D938-444C-8A28-052FCAD7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FLASHTILE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A6535-DACD-41CB-A5DA-1AEF16A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2A2"/>
                </a:solidFill>
              </a:defRPr>
            </a:pPr>
            <a:r>
              <a:rPr sz="900" b="1">
                <a:solidFill>
                  <a:srgbClr val="7182A2"/>
                </a:solidFill>
              </a:rPr>
              <a:t>THE OPPORTUNITY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71CD1-3228-4D2D-9B40-FCEA7C36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2A2"/>
                </a:solidFill>
              </a:defRPr>
            </a:pPr>
            <a:r>
              <a:rPr sz="825" b="0">
                <a:solidFill>
                  <a:srgbClr val="7182A2"/>
                </a:solidFill>
              </a:rPr>
              <a:t>Knowledge that finds you. 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F31FD-99E8-48F3-9320-8F3594F2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80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F"/>
                </a:solidFill>
              </a:defRPr>
            </a:pPr>
            <a:r>
              <a:rPr sz="2850" b="1">
                <a:solidFill>
                  <a:srgbClr val="F4F7FF"/>
                </a:solidFill>
              </a:rPr>
              <a:t>Learning loses when it competes with the workday.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C65EB-5196-48F5-99B4-58C0B50B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D1"/>
                </a:solidFill>
              </a:defRPr>
            </a:pPr>
            <a:r>
              <a:rPr sz="1425" b="0">
                <a:solidFill>
                  <a:srgbClr val="A8B6D1"/>
                </a:solidFill>
              </a:rPr>
              <a:t>The intent to grow is real. The friction is where, when, and how learning begins.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31ADA-6E00-4026-9792-6D565E01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9900"/>
                </a:solidFill>
              </a:defRPr>
            </a:pPr>
            <a:r>
              <a:rPr sz="3150" b="1">
                <a:solidFill>
                  <a:srgbClr val="FF990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337D8-1F73-411F-9389-60238A20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669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F"/>
                </a:solidFill>
              </a:defRPr>
            </a:pPr>
            <a:r>
              <a:rPr sz="1950" b="1">
                <a:solidFill>
                  <a:srgbClr val="F4F7FF"/>
                </a:solidFill>
              </a:rPr>
              <a:t>Another destination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D4568-667E-4E9B-8743-9D80D7E5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D1"/>
                </a:solidFill>
              </a:defRPr>
            </a:pPr>
            <a:r>
              <a:rPr sz="1350" b="0">
                <a:solidFill>
                  <a:srgbClr val="A8B6D1"/>
                </a:solidFill>
              </a:rPr>
              <a:t>Traditional portals ask employees to stop, switch context, and search before learning can start.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463D1-8A69-4824-8AC2-CAEA0419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A8016-F7D2-4D61-8318-DAD68D45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8A62FF"/>
                </a:solidFill>
              </a:defRPr>
            </a:pPr>
            <a:r>
              <a:rPr sz="3150" b="1">
                <a:solidFill>
                  <a:srgbClr val="8A62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5E26B-7780-43AD-8C41-735DC3E3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F"/>
                </a:solidFill>
              </a:defRPr>
            </a:pPr>
            <a:r>
              <a:rPr sz="1950" b="1">
                <a:solidFill>
                  <a:srgbClr val="F4F7FF"/>
                </a:solidFill>
              </a:rPr>
              <a:t>Too much at once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377D7-EFBB-4864-9BA0-748B685C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148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D1"/>
                </a:solidFill>
              </a:defRPr>
            </a:pPr>
            <a:r>
              <a:rPr sz="1350" b="0">
                <a:solidFill>
                  <a:srgbClr val="A8B6D1"/>
                </a:solidFill>
              </a:rPr>
              <a:t>Long modules are difficult to fit into a full calendar—and easy to postpone.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CCAC1-D6E5-468A-9C10-B93331D9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E98FF-8361-44E3-B394-74BCC90E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CE1FF"/>
                </a:solidFill>
              </a:defRPr>
            </a:pPr>
            <a:r>
              <a:rPr sz="3150" b="1">
                <a:solidFill>
                  <a:srgbClr val="5CE1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75C8C-DB46-41FD-BFF9-484B807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F"/>
                </a:solidFill>
              </a:defRPr>
            </a:pPr>
            <a:r>
              <a:rPr sz="1950" b="1">
                <a:solidFill>
                  <a:srgbClr val="F4F7FF"/>
                </a:solidFill>
              </a:rPr>
              <a:t>Weak daily momentum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0CBC3-1CF7-47A3-94C7-60E8EEC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D1"/>
                </a:solidFill>
              </a:defRPr>
            </a:pPr>
            <a:r>
              <a:rPr sz="1350" b="0">
                <a:solidFill>
                  <a:srgbClr val="A8B6D1"/>
                </a:solidFill>
              </a:rPr>
              <a:t>Without a small next step, progress becomes invisible and consistency fades.</a:t>
            </a:r>
          </a:p>
        </p:txBody>
      </p:sp>
    </p:spTree>
    <p:extLst>
      <p:ext uri="{BB962C8B-B14F-4D97-AF65-F5344CB8AC3E}">
        <p14:creationId xmlns:p14="http://schemas.microsoft.com/office/powerpoint/2010/main" val="813215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6E121-0F76-4299-87FE-40574A2C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96C3A-DD4E-4363-AD8B-50EF82B8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00976-A0E5-41F7-A7C4-43243585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FLASHTILE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04875-3AC7-4FA7-A9BE-CC022DC5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2A2"/>
                </a:solidFill>
              </a:defRPr>
            </a:pPr>
            <a:r>
              <a:rPr sz="900" b="1">
                <a:solidFill>
                  <a:srgbClr val="7182A2"/>
                </a:solidFill>
              </a:rPr>
              <a:t>THE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8B7BF-DEBD-4584-8278-1000BEEF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2A2"/>
                </a:solidFill>
              </a:defRPr>
            </a:pPr>
            <a:r>
              <a:rPr sz="825" b="0">
                <a:solidFill>
                  <a:srgbClr val="7182A2"/>
                </a:solidFill>
              </a:rPr>
              <a:t>Knowledge that finds you. 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B206A-CC6F-4DE0-AF09-F7191D74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80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F"/>
                </a:solidFill>
              </a:defRPr>
            </a:pPr>
            <a:r>
              <a:rPr sz="2850" b="1">
                <a:solidFill>
                  <a:srgbClr val="F4F7FF"/>
                </a:solidFill>
              </a:rPr>
              <a:t>FlashTile turns learning into a visible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B7D3F-8DE3-45DE-AB74-6D8BCFC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D1"/>
                </a:solidFill>
              </a:defRPr>
            </a:pPr>
            <a:r>
              <a:rPr sz="1425" b="0">
                <a:solidFill>
                  <a:srgbClr val="A8B6D1"/>
                </a:solidFill>
              </a:rPr>
              <a:t>A compact, always-on-top tile keeps development present without becoming another full-screen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90A4F-1053-4B3E-A8AE-F6705B43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2638425" cy="4343400"/>
          </a:xfrm>
          <a:prstGeom xmlns:a="http://schemas.openxmlformats.org/drawingml/2006/main" prst="roundRect">
            <a:avLst>
              <a:gd name="adj" fmla="val 8664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2C41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10211be494010"/>
          <a:stretch xmlns:a="http://schemas.openxmlformats.org/drawingml/2006/main"/>
        </p:blipFill>
        <p:spPr>
          <a:xfrm xmlns:a="http://schemas.openxmlformats.org/drawingml/2006/main">
            <a:off x="8020050" y="2003851"/>
            <a:ext cx="2486025" cy="4183798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72BF9-9AE2-4C22-A861-9F3B9855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F"/>
                </a:solidFill>
              </a:defRPr>
            </a:pPr>
            <a:r>
              <a:rPr sz="2250" b="1">
                <a:solidFill>
                  <a:srgbClr val="F4F7FF"/>
                </a:solidFill>
              </a:rPr>
              <a:t>It arrives where work happens.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F140D-89AD-40AD-856C-CA870947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D1"/>
                </a:solidFill>
              </a:defRPr>
            </a:pPr>
            <a:r>
              <a:rPr sz="1500" b="0">
                <a:solidFill>
                  <a:srgbClr val="A8B6D1"/>
                </a:solidFill>
              </a:rPr>
              <a:t>A focused tile stays at the edge of the desktop and opens with purpose—not clutter.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10070-B75A-4FCC-9DA3-76DE56D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96F5E-B8D9-4023-9E24-2C6F3F55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E1FF"/>
                </a:solidFill>
              </a:defRPr>
            </a:pPr>
            <a:r>
              <a:rPr sz="1050" b="1">
                <a:solidFill>
                  <a:srgbClr val="5CE1FF"/>
                </a:solidFill>
              </a:rPr>
              <a:t>PERSONALIZED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671D4-5068-4769-AA74-E1572673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</a:defRPr>
            </a:pPr>
            <a:r>
              <a:rPr sz="1725" b="1">
                <a:solidFill>
                  <a:srgbClr val="F4F7FF"/>
                </a:solidFill>
              </a:rPr>
              <a:t>Choose a learning goal.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383E8-C60E-47C7-91DD-AE3904C4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PRACTICAL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779FD-23EC-4A0A-897F-F7B27F07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</a:defRPr>
            </a:pPr>
            <a:r>
              <a:rPr sz="1725" b="1">
                <a:solidFill>
                  <a:srgbClr val="F4F7FF"/>
                </a:solidFill>
              </a:rPr>
              <a:t>Learn through realistic scenarios.</a:t>
            </a:r>
          </a:p>
        </p:txBody>
      </p:sp>
    </p:spTree>
    <p:extLst>
      <p:ext uri="{BB962C8B-B14F-4D97-AF65-F5344CB8AC3E}">
        <p14:creationId xmlns:p14="http://schemas.microsoft.com/office/powerpoint/2010/main" val="16628630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75473C-5E54-49BD-B5E6-E5771E6F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44DA3-B76C-4650-A268-D9D8A26F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377E9-817E-4655-8750-D31A2FE0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FLASHTILE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B7B4F-FD09-4B6E-B77D-47E865B7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2A2"/>
                </a:solidFill>
              </a:defRPr>
            </a:pPr>
            <a:r>
              <a:rPr sz="900" b="1">
                <a:solidFill>
                  <a:srgbClr val="7182A2"/>
                </a:solidFill>
              </a:rPr>
              <a:t>THE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57CD4-50D1-4912-8014-E7FF11AE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2A2"/>
                </a:solidFill>
              </a:defRPr>
            </a:pPr>
            <a:r>
              <a:rPr sz="825" b="0">
                <a:solidFill>
                  <a:srgbClr val="7182A2"/>
                </a:solidFill>
              </a:rPr>
              <a:t>Knowledge that finds you. 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BD927-557A-4218-8146-10D9FD88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80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F"/>
                </a:solidFill>
              </a:defRPr>
            </a:pPr>
            <a:r>
              <a:rPr sz="2850" b="1">
                <a:solidFill>
                  <a:srgbClr val="F4F7FF"/>
                </a:solidFill>
              </a:rPr>
              <a:t>One continuous loop converts intent into progress.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D7DDA-5DF8-4896-A44D-C9F3EF00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D1"/>
                </a:solidFill>
              </a:defRPr>
            </a:pPr>
            <a:r>
              <a:rPr sz="1425" b="0">
                <a:solidFill>
                  <a:srgbClr val="A8B6D1"/>
                </a:solidFill>
              </a:rPr>
              <a:t>Every launch follows the same clear path; every completion creates the next learning moment.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F5611-1933-4AE8-91E4-767EFDA8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8498B-D390-4922-BD1F-A3AB9CCA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9F071-DE10-47ED-83A1-7609A280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016E2-D570-4545-8992-74AD0CFA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609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99D98-2E80-4446-A8C5-56600553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6002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5CE1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88101-F755-4A78-B64C-D6406B91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CE1FF"/>
                </a:solidFill>
              </a:defRPr>
            </a:pPr>
            <a:r>
              <a:rPr sz="2025" b="1">
                <a:solidFill>
                  <a:srgbClr val="5CE1FF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B11D0-795C-4CC2-934C-7E32E898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F"/>
                </a:solidFill>
              </a:defRPr>
            </a:pPr>
            <a:r>
              <a:rPr sz="1050" b="1">
                <a:solidFill>
                  <a:srgbClr val="F4F7FF"/>
                </a:solidFill>
              </a:rPr>
              <a:t>WELCOME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731C2-485A-49CF-A89C-F03A9C84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D1"/>
                </a:solidFill>
              </a:defRPr>
            </a:pPr>
            <a:r>
              <a:rPr sz="1125" b="0">
                <a:solidFill>
                  <a:srgbClr val="A8B6D1"/>
                </a:solidFill>
              </a:rPr>
              <a:t>Understand the promise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B5F07-C42A-4688-ACE4-AD51AC1A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90800"/>
            <a:ext cx="16002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8A62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15DFF-AD97-4ABA-B6CC-D672633C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A62FF"/>
                </a:solidFill>
              </a:defRPr>
            </a:pPr>
            <a:r>
              <a:rPr sz="2025" b="1">
                <a:solidFill>
                  <a:srgbClr val="8A62F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B9094-FBAE-419F-B39A-95D29A66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57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F"/>
                </a:solidFill>
              </a:defRPr>
            </a:pPr>
            <a:r>
              <a:rPr sz="1050" b="1">
                <a:solidFill>
                  <a:srgbClr val="F4F7FF"/>
                </a:solidFill>
              </a:rPr>
              <a:t>CHOOSE GOAL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9B1EB-86EC-4F5D-81AB-B120D379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D1"/>
                </a:solidFill>
              </a:defRPr>
            </a:pPr>
            <a:r>
              <a:rPr sz="1125" b="0">
                <a:solidFill>
                  <a:srgbClr val="A8B6D1"/>
                </a:solidFill>
              </a:rPr>
              <a:t>Select one category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87954-A14B-4886-BA09-A35F25B6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90800"/>
            <a:ext cx="16002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9B3D6-FE72-4964-8D46-2BE80928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9900"/>
                </a:solidFill>
              </a:defRPr>
            </a:pPr>
            <a:r>
              <a:rPr sz="2025" b="1">
                <a:solidFill>
                  <a:srgbClr val="FF9900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7C943C-C1BF-4F4B-9309-2D7F5EAF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57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F"/>
                </a:solidFill>
              </a:defRPr>
            </a:pPr>
            <a:r>
              <a:rPr sz="1050" b="1">
                <a:solidFill>
                  <a:srgbClr val="F4F7FF"/>
                </a:solidFill>
              </a:rPr>
              <a:t>LEARN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68A07-26D1-46EF-8734-DDCE09BE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385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D1"/>
                </a:solidFill>
              </a:defRPr>
            </a:pPr>
            <a:r>
              <a:rPr sz="1125" b="0">
                <a:solidFill>
                  <a:srgbClr val="A8B6D1"/>
                </a:solidFill>
              </a:rPr>
              <a:t>Explore one concept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D191A3-A8C4-46A2-8595-7BD78E0E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16002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68ED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0A183-8F35-4177-BC28-F4484236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8EDC6"/>
                </a:solidFill>
              </a:defRPr>
            </a:pPr>
            <a:r>
              <a:rPr sz="2025" b="1">
                <a:solidFill>
                  <a:srgbClr val="68EDC6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EF085A-942B-4045-BBC1-D1E93261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57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F"/>
                </a:solidFill>
              </a:defRPr>
            </a:pPr>
            <a:r>
              <a:rPr sz="1050" b="1">
                <a:solidFill>
                  <a:srgbClr val="F4F7FF"/>
                </a:solidFill>
              </a:rPr>
              <a:t>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F6C0A-B4A8-47BA-8F71-239AC824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385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D1"/>
                </a:solidFill>
              </a:defRPr>
            </a:pPr>
            <a:r>
              <a:rPr sz="1125" b="0">
                <a:solidFill>
                  <a:srgbClr val="A8B6D1"/>
                </a:solidFill>
              </a:rPr>
              <a:t>Apply it in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9AC4CA-1277-4B34-8681-4C205FD4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90800"/>
            <a:ext cx="16002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377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749F53-084B-4664-926C-869C9587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7DFF"/>
                </a:solidFill>
              </a:defRPr>
            </a:pPr>
            <a:r>
              <a:rPr sz="2025" b="1">
                <a:solidFill>
                  <a:srgbClr val="377DFF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4E3E78-2590-4092-BEDE-61063F9F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57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F"/>
                </a:solidFill>
              </a:defRPr>
            </a:pPr>
            <a:r>
              <a:rPr sz="1050" b="1">
                <a:solidFill>
                  <a:srgbClr val="F4F7FF"/>
                </a:solidFill>
              </a:rPr>
              <a:t>PROGRESS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52065-526C-4EF9-B522-DAD5F937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385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D1"/>
                </a:solidFill>
              </a:defRPr>
            </a:pPr>
            <a:r>
              <a:rPr sz="1125" b="0">
                <a:solidFill>
                  <a:srgbClr val="A8B6D1"/>
                </a:solidFill>
              </a:rPr>
              <a:t>Earn XP and recall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8F5FCD-A0BE-42B7-8473-9C6636A4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57750"/>
            <a:ext cx="899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F"/>
                </a:solidFill>
              </a:defRPr>
            </a:pPr>
            <a:r>
              <a:rPr sz="2025" b="1">
                <a:solidFill>
                  <a:srgbClr val="F4F7FF"/>
                </a:solidFill>
              </a:rPr>
              <a:t>Complete a flash, choose confidence, and continue—without a daily ceiling.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84561C-ACFD-425B-BB80-F70173E3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435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6D1"/>
                </a:solidFill>
              </a:defRPr>
            </a:pPr>
            <a:r>
              <a:rPr sz="1350" b="0">
                <a:solidFill>
                  <a:srgbClr val="A8B6D1"/>
                </a:solidFill>
              </a:rPr>
              <a:t>The tile remembers progress locally and returns with the next relevant lesson.</a:t>
            </a:r>
          </a:p>
        </p:txBody>
      </p:sp>
    </p:spTree>
    <p:extLst>
      <p:ext uri="{BB962C8B-B14F-4D97-AF65-F5344CB8AC3E}">
        <p14:creationId xmlns:p14="http://schemas.microsoft.com/office/powerpoint/2010/main" val="865308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735EE-2BEB-4334-9CE4-06169359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B3DAC-C599-4ADD-B9A5-FE36E625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11753-7741-44B3-A2D2-20D6DAFA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FLASHTILE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70E62-AE59-4D1D-9B66-90DA5FF5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2A2"/>
                </a:solidFill>
              </a:defRPr>
            </a:pPr>
            <a:r>
              <a:rPr sz="900" b="1">
                <a:solidFill>
                  <a:srgbClr val="7182A2"/>
                </a:solidFill>
              </a:rPr>
              <a:t>LEARNING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59CF4-BA8D-42C4-AA5B-C2643E62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2A2"/>
                </a:solidFill>
              </a:defRPr>
            </a:pPr>
            <a:r>
              <a:rPr sz="825" b="0">
                <a:solidFill>
                  <a:srgbClr val="7182A2"/>
                </a:solidFill>
              </a:rPr>
              <a:t>Knowledge that finds you. 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0025F-884B-48D4-A03A-1C53F5A3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80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F"/>
                </a:solidFill>
              </a:defRPr>
            </a:pPr>
            <a:r>
              <a:rPr sz="2850" b="1">
                <a:solidFill>
                  <a:srgbClr val="F4F7FF"/>
                </a:solidFill>
              </a:rPr>
              <a:t>Learning moves from clarity to application.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10B7B-5591-45EA-9942-3F84180F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D1"/>
                </a:solidFill>
              </a:defRPr>
            </a:pPr>
            <a:r>
              <a:rPr sz="1425" b="0">
                <a:solidFill>
                  <a:srgbClr val="A8B6D1"/>
                </a:solidFill>
              </a:rPr>
              <a:t>The same evidence-informed sequence works across cloud, AI/ML, and digital trust.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088F8-BD43-45A3-B161-4A642D8C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305050" cy="3771900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2C41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73cc17c4246e1"/>
          <a:stretch xmlns:a="http://schemas.openxmlformats.org/drawingml/2006/main"/>
        </p:blipFill>
        <p:spPr>
          <a:xfrm xmlns:a="http://schemas.openxmlformats.org/drawingml/2006/main">
            <a:off x="858216" y="2095500"/>
            <a:ext cx="2150717" cy="3619500"/>
          </a:xfrm>
          <a:prstGeom xmlns:a="http://schemas.openxmlformats.org/drawingml/2006/main" prst="roundRect">
            <a:avLst>
              <a:gd name="adj" fmla="val 796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15400-AEAA-40E7-8A79-2172F45D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19300"/>
            <a:ext cx="2305050" cy="3771900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2C41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7a0a3646f4ab1"/>
          <a:stretch xmlns:a="http://schemas.openxmlformats.org/drawingml/2006/main"/>
        </p:blipFill>
        <p:spPr>
          <a:xfrm xmlns:a="http://schemas.openxmlformats.org/drawingml/2006/main">
            <a:off x="3734766" y="2095500"/>
            <a:ext cx="2150717" cy="3619500"/>
          </a:xfrm>
          <a:prstGeom xmlns:a="http://schemas.openxmlformats.org/drawingml/2006/main" prst="roundRect">
            <a:avLst>
              <a:gd name="adj" fmla="val 796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325A1-BD5C-44AC-8D9F-8D620BC7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19300"/>
            <a:ext cx="2305050" cy="3771900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2C41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887b4d77e48b3"/>
          <a:stretch xmlns:a="http://schemas.openxmlformats.org/drawingml/2006/main"/>
        </p:blipFill>
        <p:spPr>
          <a:xfrm xmlns:a="http://schemas.openxmlformats.org/drawingml/2006/main">
            <a:off x="6611316" y="2095500"/>
            <a:ext cx="2150717" cy="3619500"/>
          </a:xfrm>
          <a:prstGeom xmlns:a="http://schemas.openxmlformats.org/drawingml/2006/main" prst="roundRect">
            <a:avLst>
              <a:gd name="adj" fmla="val 7965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C7222-A418-48C8-83BD-C21F00F8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9626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CE1FF"/>
                </a:solidFill>
              </a:defRPr>
            </a:pPr>
            <a:r>
              <a:rPr sz="975" b="1">
                <a:solidFill>
                  <a:srgbClr val="5CE1FF"/>
                </a:solidFill>
              </a:rPr>
              <a:t>CORE 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7267E-1EDF-4FC6-A373-D5B5456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626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9900"/>
                </a:solidFill>
              </a:defRPr>
            </a:pPr>
            <a:r>
              <a:rPr sz="975" b="1">
                <a:solidFill>
                  <a:srgbClr val="FF9900"/>
                </a:solidFill>
              </a:rPr>
              <a:t>PRACTICAL SCENARIO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69BFA-23A2-4D1C-94D0-713B6F1E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9626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EDC6"/>
                </a:solidFill>
              </a:defRPr>
            </a:pPr>
            <a:r>
              <a:rPr sz="975" b="1">
                <a:solidFill>
                  <a:srgbClr val="68EDC6"/>
                </a:solidFill>
              </a:rPr>
              <a:t>KNOWLEDGE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7E58B-D546-479C-B8FB-5C5B2B87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F"/>
                </a:solidFill>
              </a:defRPr>
            </a:pPr>
            <a:r>
              <a:rPr sz="1875" b="1">
                <a:solidFill>
                  <a:srgbClr val="F4F7FF"/>
                </a:solidFill>
              </a:rPr>
              <a:t>Go deeper is optional.</a:t>
            </a:r>
          </a:p>
          <a:p xmlns:a="http://schemas.openxmlformats.org/drawingml/2006/main">
            <a:pPr algn="l">
              <a:defRPr sz="1875" b="1">
                <a:solidFill>
                  <a:srgbClr val="F4F7FF"/>
                </a:solidFill>
              </a:defRPr>
            </a:pPr>
            <a:r>
              <a:rPr sz="1875" b="1">
                <a:solidFill>
                  <a:srgbClr val="F4F7FF"/>
                </a:solidFill>
              </a:rPr>
              <a:t>Reflection and recall make it stick.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78529-8979-430B-BCD0-9AB83E3C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33875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D977B-EC12-4D36-837C-C41676AA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86300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D1"/>
                </a:solidFill>
              </a:defRPr>
            </a:pPr>
            <a:r>
              <a:rPr sz="1500" b="0">
                <a:solidFill>
                  <a:srgbClr val="A8B6D1"/>
                </a:solidFill>
              </a:rPr>
              <a:t>Clear first.</a:t>
            </a:r>
          </a:p>
          <a:p xmlns:a="http://schemas.openxmlformats.org/drawingml/2006/main">
            <a:pPr algn="l">
              <a:defRPr sz="1500" b="0">
                <a:solidFill>
                  <a:srgbClr val="A8B6D1"/>
                </a:solidFill>
              </a:defRPr>
            </a:pPr>
            <a:r>
              <a:rPr sz="1500" b="0">
                <a:solidFill>
                  <a:srgbClr val="A8B6D1"/>
                </a:solidFill>
              </a:rPr>
              <a:t>Relevant next.</a:t>
            </a:r>
          </a:p>
          <a:p xmlns:a="http://schemas.openxmlformats.org/drawingml/2006/main">
            <a:pPr algn="l">
              <a:defRPr sz="1500" b="0">
                <a:solidFill>
                  <a:srgbClr val="A8B6D1"/>
                </a:solidFill>
              </a:defRPr>
            </a:pPr>
            <a:r>
              <a:rPr sz="1500" b="0">
                <a:solidFill>
                  <a:srgbClr val="A8B6D1"/>
                </a:solidFill>
              </a:rPr>
              <a:t>Test differently.</a:t>
            </a:r>
          </a:p>
        </p:txBody>
      </p:sp>
    </p:spTree>
    <p:extLst>
      <p:ext uri="{BB962C8B-B14F-4D97-AF65-F5344CB8AC3E}">
        <p14:creationId xmlns:p14="http://schemas.microsoft.com/office/powerpoint/2010/main" val="1351639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5572B-9B79-4D37-A489-75FED09E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DCD11-501C-4064-91F3-C5D3E6D7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F345A-5900-47C3-9142-B4258F15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FLASHTILE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3719C-711B-45BA-A195-B2135873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2A2"/>
                </a:solidFill>
              </a:defRPr>
            </a:pPr>
            <a:r>
              <a:rPr sz="900" b="1">
                <a:solidFill>
                  <a:srgbClr val="7182A2"/>
                </a:solidFill>
              </a:rPr>
              <a:t>WHY IT STANDS 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AB411-150C-46DB-BF95-AB3C1E7C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2A2"/>
                </a:solidFill>
              </a:defRPr>
            </a:pPr>
            <a:r>
              <a:rPr sz="825" b="0">
                <a:solidFill>
                  <a:srgbClr val="7182A2"/>
                </a:solidFill>
              </a:rPr>
              <a:t>Knowledge that finds you. 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3DADD-4D37-4036-B080-EA380B1B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80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F"/>
                </a:solidFill>
              </a:defRPr>
            </a:pPr>
            <a:r>
              <a:rPr sz="2850" b="1">
                <a:solidFill>
                  <a:srgbClr val="F4F7FF"/>
                </a:solidFill>
              </a:rPr>
              <a:t>The differentiator is delivery—not another content catalog.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4C2B4-174E-4A60-AD4B-109ED17D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D1"/>
                </a:solidFill>
              </a:defRPr>
            </a:pPr>
            <a:r>
              <a:rPr sz="1425" b="0">
                <a:solidFill>
                  <a:srgbClr val="A8B6D1"/>
                </a:solidFill>
              </a:rPr>
              <a:t>FlashTile combines a distinctive form factor with practical learning mechanics.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2E835-2A10-4195-B98F-F0D5D7B9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TILE-FIRST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1F246-1C4E-40DE-B65D-BD269A8F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F"/>
                </a:solidFill>
              </a:defRPr>
            </a:pPr>
            <a:r>
              <a:rPr sz="1875" b="1">
                <a:solidFill>
                  <a:srgbClr val="F4F7FF"/>
                </a:solidFill>
              </a:rPr>
              <a:t>Learning stays visible at the edge of the workday.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19706-F893-4D01-AFF1-14764324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CATEGORY-BOUND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9A0F7-F9DA-4217-AA6C-5C2907E9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F"/>
                </a:solidFill>
              </a:defRPr>
            </a:pPr>
            <a:r>
              <a:rPr sz="1875" b="1">
                <a:solidFill>
                  <a:srgbClr val="F4F7FF"/>
                </a:solidFill>
              </a:rPr>
              <a:t>The selected goal controls every following lesson.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6675E-5825-4B19-8209-9E02B294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277BE-6789-455B-AF84-EF33640E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62FF"/>
                </a:solidFill>
              </a:defRPr>
            </a:pPr>
            <a:r>
              <a:rPr sz="1125" b="1">
                <a:solidFill>
                  <a:srgbClr val="8A62FF"/>
                </a:solidFill>
              </a:rPr>
              <a:t>SMART 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F0EF1-09FD-4C0B-93EF-6F5A18A3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F"/>
                </a:solidFill>
              </a:defRPr>
            </a:pPr>
            <a:r>
              <a:rPr sz="1875" b="1">
                <a:solidFill>
                  <a:srgbClr val="F4F7FF"/>
                </a:solidFill>
              </a:rPr>
              <a:t>Confidence schedules a different future scenario.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C8D74-C5B9-4271-852A-237BA4D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EDC6"/>
                </a:solidFill>
              </a:defRPr>
            </a:pPr>
            <a:r>
              <a:rPr sz="1125" b="1">
                <a:solidFill>
                  <a:srgbClr val="68EDC6"/>
                </a:solidFill>
              </a:rPr>
              <a:t>HUMAN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E5D8B-980A-488A-9C2D-33935C6C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F"/>
                </a:solidFill>
              </a:defRPr>
            </a:pPr>
            <a:r>
              <a:rPr sz="1875" b="1">
                <a:solidFill>
                  <a:srgbClr val="F4F7FF"/>
                </a:solidFill>
              </a:rPr>
              <a:t>Notes, bookmarks, breathing reset, and recognition support consistency.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B3D14-F7F9-4F67-9A92-BA2C9AB6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8B6D1"/>
                </a:solidFill>
              </a:defRPr>
            </a:pPr>
            <a:r>
              <a:rPr sz="1725" b="0">
                <a:solidFill>
                  <a:srgbClr val="A8B6D1"/>
                </a:solidFill>
              </a:rPr>
              <a:t>Small interactions. One coherent learning habit.</a:t>
            </a:r>
          </a:p>
        </p:txBody>
      </p:sp>
    </p:spTree>
    <p:extLst>
      <p:ext uri="{BB962C8B-B14F-4D97-AF65-F5344CB8AC3E}">
        <p14:creationId xmlns:p14="http://schemas.microsoft.com/office/powerpoint/2010/main" val="8207753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8B25B-20AF-44FD-9CA1-FC8FEA87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060F2-BA29-43E8-8E76-938D2B90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19C5F-FE20-4E06-9A4D-CBBDF087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FLASHTILE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96E4D-3AFC-4E42-95C2-8C0D21E9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2A2"/>
                </a:solidFill>
              </a:defRPr>
            </a:pPr>
            <a:r>
              <a:rPr sz="900" b="1">
                <a:solidFill>
                  <a:srgbClr val="7182A2"/>
                </a:solidFill>
              </a:rPr>
              <a:t>WHAT WORKS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D86AF-EAB1-451A-BDB7-52425AF9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2A2"/>
                </a:solidFill>
              </a:defRPr>
            </a:pPr>
            <a:r>
              <a:rPr sz="825" b="0">
                <a:solidFill>
                  <a:srgbClr val="7182A2"/>
                </a:solidFill>
              </a:rPr>
              <a:t>Knowledge that finds you. 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B18E9-BDC4-4661-8B3D-47EE7BDE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80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F"/>
                </a:solidFill>
              </a:defRPr>
            </a:pPr>
            <a:r>
              <a:rPr sz="2850" b="1">
                <a:solidFill>
                  <a:srgbClr val="F4F7FF"/>
                </a:solidFill>
              </a:rPr>
              <a:t>RC15 proves the complete tile-first learning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B5863-5ECA-43D5-B9D0-89653BD6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D1"/>
                </a:solidFill>
              </a:defRPr>
            </a:pPr>
            <a:r>
              <a:rPr sz="1425" b="0">
                <a:solidFill>
                  <a:srgbClr val="A8B6D1"/>
                </a:solidFill>
              </a:rPr>
              <a:t>The current candidate is runnable on macOS, Windows-ready, and backed by automated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345C9-A085-4E8A-972E-57AB2FB5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CE1FF"/>
                </a:solidFill>
              </a:defRPr>
            </a:pPr>
            <a:r>
              <a:rPr sz="3750" b="1">
                <a:solidFill>
                  <a:srgbClr val="5CE1FF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247FE-AA9B-4434-9267-158C95B7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6D1"/>
                </a:solidFill>
              </a:defRPr>
            </a:pPr>
            <a:r>
              <a:rPr sz="975" b="1">
                <a:solidFill>
                  <a:srgbClr val="A8B6D1"/>
                </a:solidFill>
              </a:rPr>
              <a:t>CURATED LESSONS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54B38-4705-4C32-BA24-035D8998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907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9900"/>
                </a:solidFill>
              </a:defRPr>
            </a:pPr>
            <a:r>
              <a:rPr sz="3750" b="1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D1F53-AB2B-4B80-B0FB-51A31E30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6D1"/>
                </a:solidFill>
              </a:defRPr>
            </a:pPr>
            <a:r>
              <a:rPr sz="975" b="1">
                <a:solidFill>
                  <a:srgbClr val="A8B6D1"/>
                </a:solidFill>
              </a:rPr>
              <a:t>LEARNING CATEGORIES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3C3FC-6EDC-417B-8FAA-4446FA0F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8EDC6"/>
                </a:solidFill>
              </a:defRPr>
            </a:pPr>
            <a:r>
              <a:rPr sz="3750" b="1">
                <a:solidFill>
                  <a:srgbClr val="68EDC6"/>
                </a:solidFill>
              </a:rPr>
              <a:t>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8587F-03E7-4192-A256-DC3B5019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6D1"/>
                </a:solidFill>
              </a:defRPr>
            </a:pPr>
            <a:r>
              <a:rPr sz="975" b="1">
                <a:solidFill>
                  <a:srgbClr val="A8B6D1"/>
                </a:solidFill>
              </a:rPr>
              <a:t>AUTOMATED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A481C-19E0-4A65-A4E3-6A8E5048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8A62FF"/>
                </a:solidFill>
              </a:defRPr>
            </a:pPr>
            <a:r>
              <a:rPr sz="3750" b="1">
                <a:solidFill>
                  <a:srgbClr val="8A62FF"/>
                </a:solidFill>
              </a:rPr>
              <a:t>410×690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50D0A-6888-4DD2-A25A-0151B3AA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053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6D1"/>
                </a:solidFill>
              </a:defRPr>
            </a:pPr>
            <a:r>
              <a:rPr sz="975" b="1">
                <a:solidFill>
                  <a:srgbClr val="A8B6D1"/>
                </a:solidFill>
              </a:rPr>
              <a:t>FIXED TILE GEOMETRY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BED21-05A2-40D2-8730-5E2D20B2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2638425" cy="4343400"/>
          </a:xfrm>
          <a:prstGeom xmlns:a="http://schemas.openxmlformats.org/drawingml/2006/main" prst="roundRect">
            <a:avLst>
              <a:gd name="adj" fmla="val 8664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2C41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e389909a04ac3"/>
          <a:stretch xmlns:a="http://schemas.openxmlformats.org/drawingml/2006/main"/>
        </p:blipFill>
        <p:spPr>
          <a:xfrm xmlns:a="http://schemas.openxmlformats.org/drawingml/2006/main">
            <a:off x="8020050" y="2003851"/>
            <a:ext cx="2486025" cy="4183798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E755F-79D5-46A5-9EAF-7AFA96BA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D1"/>
                </a:solidFill>
              </a:defRPr>
            </a:pPr>
            <a:r>
              <a:rPr sz="1350" b="0">
                <a:solidFill>
                  <a:srgbClr val="A8B6D1"/>
                </a:solidFill>
              </a:rPr>
              <a:t>Verified: onboarding, goal mapping, category filtering, completion, XP, notes, recall, and asset integrity.</a:t>
            </a:r>
          </a:p>
        </p:txBody>
      </p:sp>
    </p:spTree>
    <p:extLst>
      <p:ext uri="{BB962C8B-B14F-4D97-AF65-F5344CB8AC3E}">
        <p14:creationId xmlns:p14="http://schemas.microsoft.com/office/powerpoint/2010/main" val="15629704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03B54-1C20-492C-9290-46E8DA21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6D27D-E150-42C7-8573-41695C1B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62ECD-153A-4A85-A07F-399DFA62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FLASHTILE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5DF9F-CF85-4001-9B94-ADCB78D4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2A2"/>
                </a:solidFill>
              </a:defRPr>
            </a:pPr>
            <a:r>
              <a:rPr sz="900" b="1">
                <a:solidFill>
                  <a:srgbClr val="7182A2"/>
                </a:solidFill>
              </a:rPr>
              <a:t>ENTERPRISE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72B44-9E92-45EF-A23B-CF4F93CD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2A2"/>
                </a:solidFill>
              </a:defRPr>
            </a:pPr>
            <a:r>
              <a:rPr sz="825" b="0">
                <a:solidFill>
                  <a:srgbClr val="7182A2"/>
                </a:solidFill>
              </a:rPr>
              <a:t>Knowledge that finds you. 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34395-ECEE-4E68-B01D-6B9ED067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80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7FF"/>
                </a:solidFill>
              </a:defRPr>
            </a:pPr>
            <a:r>
              <a:rPr sz="2625" b="1">
                <a:solidFill>
                  <a:srgbClr val="F4F7FF"/>
                </a:solidFill>
              </a:rPr>
              <a:t>Trust is designed in before intelligence is connected.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86C0F-A185-4A6A-8A2B-9ADE915D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D1"/>
                </a:solidFill>
              </a:defRPr>
            </a:pPr>
            <a:r>
              <a:rPr sz="1425" b="0">
                <a:solidFill>
                  <a:srgbClr val="A8B6D1"/>
                </a:solidFill>
              </a:rPr>
              <a:t>The current release is local by default; future AI and identity integrations remain replaceable services.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1CE8F-46A0-4891-8E5F-7F1337E0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ED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E5DF9-58F4-4E85-BEEC-630EB7B4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EDC6"/>
                </a:solidFill>
              </a:defRPr>
            </a:pPr>
            <a:r>
              <a:rPr sz="1050" b="1">
                <a:solidFill>
                  <a:srgbClr val="68EDC6"/>
                </a:solidFill>
              </a:rPr>
              <a:t>LOCAL TODAY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3C6BC-FE04-4018-950D-D94FC11A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F"/>
                </a:solidFill>
              </a:defRPr>
            </a:pPr>
            <a:r>
              <a:rPr sz="1800" b="1">
                <a:solidFill>
                  <a:srgbClr val="F4F7FF"/>
                </a:solidFill>
              </a:rPr>
              <a:t>Progress and settings stay in a local Excel workbook.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63207-4C4D-4E4A-9FE7-E7D2E887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D1"/>
                </a:solidFill>
              </a:defRPr>
            </a:pPr>
            <a:r>
              <a:rPr sz="1350" b="0">
                <a:solidFill>
                  <a:srgbClr val="A8B6D1"/>
                </a:solidFill>
              </a:rPr>
              <a:t>No customer data, credentials, secrets, or confidential business information is required.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18793-F3CE-4291-A1F0-12B02122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E1FF"/>
                </a:solidFill>
              </a:defRPr>
            </a:pPr>
            <a:r>
              <a:rPr sz="1050" b="1">
                <a:solidFill>
                  <a:srgbClr val="5CE1FF"/>
                </a:solidFill>
              </a:rPr>
              <a:t>CONTROLLED TOMORROW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67755-5AB6-426B-ADE3-D2292F9C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F"/>
                </a:solidFill>
              </a:defRPr>
            </a:pPr>
            <a:r>
              <a:rPr sz="1800" b="1">
                <a:solidFill>
                  <a:srgbClr val="F4F7FF"/>
                </a:solidFill>
              </a:rPr>
              <a:t>SSO, grounded AI, and team services connect behind clear interfaces.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7F721-D231-4AB9-A9CA-923B59BB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D1"/>
                </a:solidFill>
              </a:defRPr>
            </a:pPr>
            <a:r>
              <a:rPr sz="1350" b="0">
                <a:solidFill>
                  <a:srgbClr val="A8B6D1"/>
                </a:solidFill>
              </a:rPr>
              <a:t>Leaderboard participation remains optional; raw identity keys stay out of the interface; approved sources ground future content.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78FC8-A92A-421E-B84C-9D1FB97A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04652-4205-47BC-BE0B-CAD1554A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Design principle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D709E-F54F-4C01-808B-C236D6EF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911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F"/>
                </a:solidFill>
              </a:defRPr>
            </a:pPr>
            <a:r>
              <a:rPr sz="2025" b="1">
                <a:solidFill>
                  <a:srgbClr val="F4F7FF"/>
                </a:solidFill>
              </a:rPr>
              <a:t>Minimum data. Clear purpose. Replaceable integrations.</a:t>
            </a:r>
          </a:p>
        </p:txBody>
      </p:sp>
    </p:spTree>
    <p:extLst>
      <p:ext uri="{BB962C8B-B14F-4D97-AF65-F5344CB8AC3E}">
        <p14:creationId xmlns:p14="http://schemas.microsoft.com/office/powerpoint/2010/main" val="1962662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E2F18-4E22-479C-93B8-5E8D6F9F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DADF1-51AF-40CE-B245-25AB48C5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04D19-5BE7-4DB8-ADE4-C6041104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FLASHTILE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FF1F3-6F6C-4979-B5BD-884B5493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2A2"/>
                </a:solidFill>
              </a:defRPr>
            </a:pPr>
            <a:r>
              <a:rPr sz="900" b="1">
                <a:solidFill>
                  <a:srgbClr val="7182A2"/>
                </a:solidFill>
              </a:rPr>
              <a:t>SOCIAL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5B4AB-6B0F-47C6-9269-0AD1533C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2A2"/>
                </a:solidFill>
              </a:defRPr>
            </a:pPr>
            <a:r>
              <a:rPr sz="825" b="0">
                <a:solidFill>
                  <a:srgbClr val="7182A2"/>
                </a:solidFill>
              </a:rPr>
              <a:t>Knowledge that finds you. 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56619-9A94-4CA5-8AD6-DD2B81C6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80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F"/>
                </a:solidFill>
              </a:defRPr>
            </a:pPr>
            <a:r>
              <a:rPr sz="2850" b="1">
                <a:solidFill>
                  <a:srgbClr val="F4F7FF"/>
                </a:solidFill>
              </a:rPr>
              <a:t>Team momentum adds encouragement without adding noise.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92619-D19F-45FC-9968-54D66D5F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D1"/>
                </a:solidFill>
              </a:defRPr>
            </a:pPr>
            <a:r>
              <a:rPr sz="1425" b="0">
                <a:solidFill>
                  <a:srgbClr val="A8B6D1"/>
                </a:solidFill>
              </a:rPr>
              <a:t>Shared goals and recognition stay secondary to the individual learning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AD2FA-8B53-4CD8-94B0-0EC564E5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695575" cy="4438650"/>
          </a:xfrm>
          <a:prstGeom xmlns:a="http://schemas.openxmlformats.org/drawingml/2006/main" prst="roundRect">
            <a:avLst>
              <a:gd name="adj" fmla="val 8481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2C41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b49c56dc74b01"/>
          <a:stretch xmlns:a="http://schemas.openxmlformats.org/drawingml/2006/main"/>
        </p:blipFill>
        <p:spPr>
          <a:xfrm xmlns:a="http://schemas.openxmlformats.org/drawingml/2006/main">
            <a:off x="876300" y="2003386"/>
            <a:ext cx="2543175" cy="4279977"/>
          </a:xfrm>
          <a:prstGeom xmlns:a="http://schemas.openxmlformats.org/drawingml/2006/main" prst="roundRect">
            <a:avLst>
              <a:gd name="adj" fmla="val 674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19807-58DE-4B20-A1AE-E2501713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E1FF"/>
                </a:solidFill>
              </a:defRPr>
            </a:pPr>
            <a:r>
              <a:rPr sz="1050" b="1">
                <a:solidFill>
                  <a:srgbClr val="5CE1FF"/>
                </a:solidFill>
              </a:rPr>
              <a:t>SIX CONTRIBUTORS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B0FD7-EA46-4424-B8BF-4EE4B29E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EDC6"/>
                </a:solidFill>
              </a:defRPr>
            </a:pPr>
            <a:r>
              <a:rPr sz="1200" b="1">
                <a:solidFill>
                  <a:srgbClr val="68EDC6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F5735-4524-4A1D-97F6-0B968B07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384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F"/>
                </a:solidFill>
              </a:defRPr>
            </a:pPr>
            <a:r>
              <a:rPr sz="1500" b="0">
                <a:solidFill>
                  <a:srgbClr val="F4F7FF"/>
                </a:solidFill>
              </a:rPr>
              <a:t>Tran, Victoria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AA554-533A-44E8-8C96-65ADF1B9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EDC6"/>
                </a:solidFill>
              </a:defRPr>
            </a:pPr>
            <a:r>
              <a:rPr sz="1200" b="1">
                <a:solidFill>
                  <a:srgbClr val="68EDC6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09E7E-C990-41B5-828E-FB6A2CE0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33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F"/>
                </a:solidFill>
              </a:defRPr>
            </a:pPr>
            <a:r>
              <a:rPr sz="1500" b="0">
                <a:solidFill>
                  <a:srgbClr val="F4F7FF"/>
                </a:solidFill>
              </a:rPr>
              <a:t>Edupuganti, Kranthima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A1AE7-EF29-463B-8F71-A433ED14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EDC6"/>
                </a:solidFill>
              </a:defRPr>
            </a:pPr>
            <a:r>
              <a:rPr sz="1200" b="1">
                <a:solidFill>
                  <a:srgbClr val="68EDC6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3A409-8EFD-4EE9-AF50-3AD3A979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F"/>
                </a:solidFill>
              </a:defRPr>
            </a:pPr>
            <a:r>
              <a:rPr sz="1500" b="0">
                <a:solidFill>
                  <a:srgbClr val="F4F7FF"/>
                </a:solidFill>
              </a:rPr>
              <a:t>Griffin, Trey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5644F-7A24-432B-BC1B-76247407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433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EDC6"/>
                </a:solidFill>
              </a:defRPr>
            </a:pPr>
            <a:r>
              <a:rPr sz="1200" b="1">
                <a:solidFill>
                  <a:srgbClr val="68EDC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BD1B9-B44E-4B25-8E82-9326009B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24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F"/>
                </a:solidFill>
              </a:defRPr>
            </a:pPr>
            <a:r>
              <a:rPr sz="1500" b="0">
                <a:solidFill>
                  <a:srgbClr val="F4F7FF"/>
                </a:solidFill>
              </a:rPr>
              <a:t>Neel, Jeffrey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F76CA-7296-4821-AA7B-09C9A403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EDC6"/>
                </a:solidFill>
              </a:defRPr>
            </a:pPr>
            <a:r>
              <a:rPr sz="1200" b="1">
                <a:solidFill>
                  <a:srgbClr val="68EDC6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CC68D-2E51-498A-9044-4BEDF63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96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F"/>
                </a:solidFill>
              </a:defRPr>
            </a:pPr>
            <a:r>
              <a:rPr sz="1500" b="0">
                <a:solidFill>
                  <a:srgbClr val="F4F7FF"/>
                </a:solidFill>
              </a:rPr>
              <a:t>Talley, Kyle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366A6C-885E-4114-9B23-1504AC28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339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900"/>
                </a:solidFill>
              </a:defRPr>
            </a:pPr>
            <a:r>
              <a:rPr sz="1200" b="1">
                <a:solidFill>
                  <a:srgbClr val="FF9900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DFC0B-390D-4C9A-859F-007A90F5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14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F"/>
                </a:solidFill>
              </a:defRPr>
            </a:pPr>
            <a:r>
              <a:rPr sz="1500" b="1">
                <a:solidFill>
                  <a:srgbClr val="F4F7FF"/>
                </a:solidFill>
              </a:rPr>
              <a:t>Patel, Shrenik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66EF28-F63D-470B-AE22-4667CBD8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626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7AEB9-305C-4D06-8BB0-C87FAFFE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810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D1"/>
                </a:solidFill>
              </a:defRPr>
            </a:pPr>
            <a:r>
              <a:rPr sz="1350" b="0">
                <a:solidFill>
                  <a:srgbClr val="A8B6D1"/>
                </a:solidFill>
              </a:rPr>
              <a:t>Shared challenge  •  Appreciation  •  Opt-in leaderboard</a:t>
            </a:r>
          </a:p>
        </p:txBody>
      </p:sp>
    </p:spTree>
    <p:extLst>
      <p:ext uri="{BB962C8B-B14F-4D97-AF65-F5344CB8AC3E}">
        <p14:creationId xmlns:p14="http://schemas.microsoft.com/office/powerpoint/2010/main" val="791227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F8EE8-642F-43A5-B0E0-2702C099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FA010-09C4-4258-8110-AE84C296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BEAF4-D372-4720-9068-AB2EC8D9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FLASHTILE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673D1-927F-483C-ADD1-95C39B8D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2A2"/>
                </a:solidFill>
              </a:defRPr>
            </a:pPr>
            <a:r>
              <a:rPr sz="900" b="1">
                <a:solidFill>
                  <a:srgbClr val="7182A2"/>
                </a:solidFill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074E3-89F4-4C56-9F57-EFD56E89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2A2"/>
                </a:solidFill>
              </a:defRPr>
            </a:pPr>
            <a:r>
              <a:rPr sz="825" b="0">
                <a:solidFill>
                  <a:srgbClr val="7182A2"/>
                </a:solidFill>
              </a:rPr>
              <a:t>Knowledge that finds you. 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8358E-5D9B-4BA3-B0A6-57190B56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80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F"/>
                </a:solidFill>
              </a:defRPr>
            </a:pPr>
            <a:r>
              <a:rPr sz="2850" b="1">
                <a:solidFill>
                  <a:srgbClr val="F4F7FF"/>
                </a:solidFill>
              </a:rPr>
              <a:t>One interface connects the MVP to enterprise services.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07CDA-25F1-4F3B-AA74-694FF93F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D1"/>
                </a:solidFill>
              </a:defRPr>
            </a:pPr>
            <a:r>
              <a:rPr sz="1425" b="0">
                <a:solidFill>
                  <a:srgbClr val="A8B6D1"/>
                </a:solidFill>
              </a:rPr>
              <a:t>The UI does not need to change when storage, identity, or content providers evolve.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2F6B7-4E42-43D3-9FF5-3DB04DCC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46DFA-FA4B-45C5-B2D5-F970A838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64759-3BC7-4D93-BE7C-5CAF5658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3F7D1-B717-40C6-AA06-7ED1EE09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04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8556F-3238-4DCF-A88E-E577B121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619250" cy="1543050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5CE1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57312-D9FA-4281-9311-EA80FD2A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FLASH 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1F9CE-D778-4B1E-9CF6-F81B1849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F"/>
                </a:solidFill>
              </a:defRPr>
            </a:pPr>
            <a:r>
              <a:rPr sz="1275" b="1">
                <a:solidFill>
                  <a:srgbClr val="F4F7FF"/>
                </a:solidFill>
              </a:rPr>
              <a:t>PySide6 + QML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9DB22-1052-469B-9BAD-C08D2FB0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1619250" cy="1543050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3D668-95C7-424B-A901-10B2E0A5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76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9900"/>
                </a:solidFill>
              </a:defRPr>
            </a:pPr>
            <a:r>
              <a:rPr sz="1125" b="1">
                <a:solidFill>
                  <a:srgbClr val="FF9900"/>
                </a:solidFill>
              </a:rPr>
              <a:t>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4BD09-3FE8-4DCF-9D30-7337810E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337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F"/>
                </a:solidFill>
              </a:defRPr>
            </a:pPr>
            <a:r>
              <a:rPr sz="1275" b="1">
                <a:solidFill>
                  <a:srgbClr val="F4F7FF"/>
                </a:solidFill>
              </a:rPr>
              <a:t>Lesson +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A047D-9DEF-49D5-98AB-2D955C9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1619250" cy="1543050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8A6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2EDDA-470C-4C05-80BC-098B8C35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76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62FF"/>
                </a:solidFill>
              </a:defRPr>
            </a:pPr>
            <a:r>
              <a:rPr sz="1125" b="1">
                <a:solidFill>
                  <a:srgbClr val="8A62FF"/>
                </a:solidFill>
              </a:rPr>
              <a:t>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2B600-6348-4913-8C22-476AFD96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337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F"/>
                </a:solidFill>
              </a:defRPr>
            </a:pPr>
            <a:r>
              <a:rPr sz="1275" b="1">
                <a:solidFill>
                  <a:srgbClr val="F4F7FF"/>
                </a:solidFill>
              </a:rPr>
              <a:t>Clear interfaces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41472-F6F8-4E91-8D7F-F85D3192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1619250" cy="1543050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68ED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78435-0D6F-4DB7-A155-6A6A004E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76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8EDC6"/>
                </a:solidFill>
              </a:defRPr>
            </a:pPr>
            <a:r>
              <a:rPr sz="1125" b="1">
                <a:solidFill>
                  <a:srgbClr val="68EDC6"/>
                </a:solidFill>
              </a:rPr>
              <a:t>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7B8602-D5DF-4D05-A8A1-DBC23551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337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F"/>
                </a:solidFill>
              </a:defRPr>
            </a:pPr>
            <a:r>
              <a:rPr sz="1275" b="1">
                <a:solidFill>
                  <a:srgbClr val="F4F7FF"/>
                </a:solidFill>
              </a:rPr>
              <a:t>Excel today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7E22E-9D71-4056-9196-F7A4C93A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90800"/>
            <a:ext cx="1619250" cy="1543050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101C35"/>
          </a:solidFill>
          <a:ln xmlns:a="http://schemas.openxmlformats.org/drawingml/2006/main" w="9525">
            <a:solidFill>
              <a:srgbClr val="377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724D04-0BAD-457A-95B1-A8A75964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76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77DFF"/>
                </a:solidFill>
              </a:defRPr>
            </a:pPr>
            <a:r>
              <a:rPr sz="1125" b="1">
                <a:solidFill>
                  <a:srgbClr val="377DFF"/>
                </a:solidFill>
              </a:rPr>
              <a:t>ENTERPRISE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A6B40-4A8F-4F61-93EF-419EECFD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0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F"/>
                </a:solidFill>
              </a:defRPr>
            </a:pPr>
            <a:r>
              <a:rPr sz="1275" b="1">
                <a:solidFill>
                  <a:srgbClr val="F4F7FF"/>
                </a:solidFill>
              </a:rPr>
              <a:t>SSO • AI • APIs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48CE6-750C-4FF9-8362-3BF641F8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4F7FF"/>
                </a:solidFill>
              </a:defRPr>
            </a:pPr>
            <a:r>
              <a:rPr sz="2325" b="1">
                <a:solidFill>
                  <a:srgbClr val="F4F7FF"/>
                </a:solidFill>
              </a:rPr>
              <a:t>Replace the adapter—not the learning experience.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8F81BA-697D-480D-A734-497C8932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6D1"/>
                </a:solidFill>
              </a:defRPr>
            </a:pPr>
            <a:r>
              <a:rPr sz="1350" b="0">
                <a:solidFill>
                  <a:srgbClr val="A8B6D1"/>
                </a:solidFill>
              </a:rPr>
              <a:t>Cross-platform UI • local-first resilience • controlled upgrade path</a:t>
            </a:r>
          </a:p>
        </p:txBody>
      </p:sp>
    </p:spTree>
    <p:extLst>
      <p:ext uri="{BB962C8B-B14F-4D97-AF65-F5344CB8AC3E}">
        <p14:creationId xmlns:p14="http://schemas.microsoft.com/office/powerpoint/2010/main" val="3688487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F07633-F3E0-4FFC-8B71-695F71FB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01A0E-AAFE-47C8-A71F-D36BBA69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E881A-956A-4078-8826-60CA86C0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E1FF"/>
                </a:solidFill>
              </a:defRPr>
            </a:pPr>
            <a:r>
              <a:rPr sz="1125" b="1">
                <a:solidFill>
                  <a:srgbClr val="5CE1FF"/>
                </a:solidFill>
              </a:rPr>
              <a:t>FLASHTILE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6AE93-6B2A-429A-916F-BE31FD13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182A2"/>
                </a:solidFill>
              </a:defRPr>
            </a:pPr>
            <a:r>
              <a:rPr sz="900" b="1">
                <a:solidFill>
                  <a:srgbClr val="7182A2"/>
                </a:solidFill>
              </a:rPr>
              <a:t>PATH TO V1.0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AAEB4-CB82-40DD-A49E-C2D93940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80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2A2"/>
                </a:solidFill>
              </a:defRPr>
            </a:pPr>
            <a:r>
              <a:rPr sz="825" b="0">
                <a:solidFill>
                  <a:srgbClr val="7182A2"/>
                </a:solidFill>
              </a:rPr>
              <a:t>Knowledge that finds you. 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CB22B-C70E-4C9C-ADC2-67066790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80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F"/>
                </a:solidFill>
              </a:defRPr>
            </a:pPr>
            <a:r>
              <a:rPr sz="2850" b="1">
                <a:solidFill>
                  <a:srgbClr val="F4F7FF"/>
                </a:solidFill>
              </a:rPr>
              <a:t>The next milestone is a controlled 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AA36E-4AC0-442D-9058-199D9FFC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D1"/>
                </a:solidFill>
              </a:defRPr>
            </a:pPr>
            <a:r>
              <a:rPr sz="1425" b="0">
                <a:solidFill>
                  <a:srgbClr val="A8B6D1"/>
                </a:solidFill>
              </a:rPr>
              <a:t>Stabilize the core, measure learning behavior, then earn the right to expand.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5C361-16E1-49E8-9E9A-7A664459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981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22561-BE9E-4860-9F62-288A580A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47625">
            <a:solidFill>
              <a:srgbClr val="060B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4BC88-BF5D-4E2F-900F-36820C8A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E1FF"/>
                </a:solidFill>
              </a:defRPr>
            </a:pPr>
            <a:r>
              <a:rPr sz="1050" b="1">
                <a:solidFill>
                  <a:srgbClr val="5CE1FF"/>
                </a:solidFill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1C1A6-DD85-42A7-9786-983C050A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</a:defRPr>
            </a:pPr>
            <a:r>
              <a:rPr sz="1725" b="1">
                <a:solidFill>
                  <a:srgbClr val="F4F7FF"/>
                </a:solidFill>
              </a:rPr>
              <a:t>RC15 candidate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CC43C-6A06-497C-807F-6A15EDF3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6D1"/>
                </a:solidFill>
              </a:defRPr>
            </a:pPr>
            <a:r>
              <a:rPr sz="1275" b="0">
                <a:solidFill>
                  <a:srgbClr val="A8B6D1"/>
                </a:solidFill>
              </a:rPr>
              <a:t>Mac acceptance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0DE98-3249-4992-B419-39C00760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47625">
            <a:solidFill>
              <a:srgbClr val="060B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42EBE-8272-4F2B-AFDD-6451DD00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33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25B16-CD5C-4665-81B0-34ED071C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</a:defRPr>
            </a:pPr>
            <a:r>
              <a:rPr sz="1725" b="1">
                <a:solidFill>
                  <a:srgbClr val="F4F7FF"/>
                </a:solidFill>
              </a:rPr>
              <a:t>v1.0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2B769-29AF-4B60-B7E0-BF0541FF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6D1"/>
                </a:solidFill>
              </a:defRPr>
            </a:pPr>
            <a:r>
              <a:rPr sz="1275" b="0">
                <a:solidFill>
                  <a:srgbClr val="A8B6D1"/>
                </a:solidFill>
              </a:rPr>
              <a:t>Windows package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6CB00-CD41-443F-9D2E-3059F413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EDC6"/>
          </a:solidFill>
          <a:ln xmlns:a="http://schemas.openxmlformats.org/drawingml/2006/main" w="47625">
            <a:solidFill>
              <a:srgbClr val="060B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4079A-027F-4D51-B1B7-9B198D54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EDC6"/>
                </a:solidFill>
              </a:defRPr>
            </a:pPr>
            <a:r>
              <a:rPr sz="1050" b="1">
                <a:solidFill>
                  <a:srgbClr val="68EDC6"/>
                </a:solidFill>
              </a:rPr>
              <a:t>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5FC03-67BF-4D6D-8967-2F438CAD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</a:defRPr>
            </a:pPr>
            <a:r>
              <a:rPr sz="1725" b="1">
                <a:solidFill>
                  <a:srgbClr val="F4F7FF"/>
                </a:solidFill>
              </a:rPr>
              <a:t>Small cohort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BCA70-DD5D-4450-90C1-FF357D05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52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6D1"/>
                </a:solidFill>
              </a:defRPr>
            </a:pPr>
            <a:r>
              <a:rPr sz="1275" b="0">
                <a:solidFill>
                  <a:srgbClr val="A8B6D1"/>
                </a:solidFill>
              </a:rPr>
              <a:t>Measure usage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B1290-343C-4EA9-AA04-83A308CA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38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47625">
            <a:solidFill>
              <a:srgbClr val="060B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6C832-25ED-45B3-80B6-F3F8CB89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62FF"/>
                </a:solidFill>
              </a:defRPr>
            </a:pPr>
            <a:r>
              <a:rPr sz="1050" b="1">
                <a:solidFill>
                  <a:srgbClr val="8A62FF"/>
                </a:solidFill>
              </a:rPr>
              <a:t>EXPAND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E81B3-C37F-4BCE-AE3D-4069F406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33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F"/>
                </a:solidFill>
              </a:defRPr>
            </a:pPr>
            <a:r>
              <a:rPr sz="1725" b="1">
                <a:solidFill>
                  <a:srgbClr val="F4F7FF"/>
                </a:solidFill>
              </a:rPr>
              <a:t>Approved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C891A-AB53-4635-ACE3-43F3BF56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52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6D1"/>
                </a:solidFill>
              </a:defRPr>
            </a:pPr>
            <a:r>
              <a:rPr sz="1275" b="0">
                <a:solidFill>
                  <a:srgbClr val="A8B6D1"/>
                </a:solidFill>
              </a:rPr>
              <a:t>SSO + grounded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06ADB-A9FE-495B-AAB7-13B3189F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F"/>
                </a:solidFill>
              </a:defRPr>
            </a:pPr>
            <a:r>
              <a:rPr sz="1950" b="1">
                <a:solidFill>
                  <a:srgbClr val="F4F7FF"/>
                </a:solidFill>
              </a:rPr>
              <a:t>Measure what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405F8-0BBF-4418-9C44-3511E574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D1"/>
                </a:solidFill>
              </a:defRPr>
            </a:pPr>
            <a:r>
              <a:rPr sz="1500" b="0">
                <a:solidFill>
                  <a:srgbClr val="A8B6D1"/>
                </a:solidFill>
              </a:rPr>
              <a:t>Activation  •  Lesson completion  •  Recall success  •  Repeat use  •  User feedback</a:t>
            </a:r>
          </a:p>
        </p:txBody>
      </p:sp>
    </p:spTree>
    <p:extLst>
      <p:ext uri="{BB962C8B-B14F-4D97-AF65-F5344CB8AC3E}">
        <p14:creationId xmlns:p14="http://schemas.microsoft.com/office/powerpoint/2010/main" val="2581121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0280A-0F46-4E53-98DC-DCB89033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A8E54-2D43-4DD1-AA3D-97F9E3EC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a522213204da3"/>
          <a:stretch xmlns:a="http://schemas.openxmlformats.org/drawingml/2006/main"/>
        </p:blipFill>
        <p:spPr>
          <a:xfrm xmlns:a="http://schemas.openxmlformats.org/drawingml/2006/main">
            <a:off x="857250" y="14287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9B7CC-C587-44FF-9BCA-89F75FF3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335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F"/>
                </a:solidFill>
              </a:defRPr>
            </a:pPr>
            <a:r>
              <a:rPr sz="3600" b="1">
                <a:solidFill>
                  <a:srgbClr val="F4F7FF"/>
                </a:solidFill>
              </a:rPr>
              <a:t>FlashTile brings learning</a:t>
            </a:r>
          </a:p>
          <a:p xmlns:a="http://schemas.openxmlformats.org/drawingml/2006/main">
            <a:pPr algn="l">
              <a:defRPr sz="3600" b="1">
                <a:solidFill>
                  <a:srgbClr val="F4F7FF"/>
                </a:solidFill>
              </a:defRPr>
            </a:pPr>
            <a:r>
              <a:rPr sz="3600" b="1">
                <a:solidFill>
                  <a:srgbClr val="F4F7FF"/>
                </a:solidFill>
              </a:rPr>
              <a:t>to the employee.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41571-163A-4643-8C71-1F7683F3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B6D1"/>
                </a:solidFill>
              </a:defRPr>
            </a:pPr>
            <a:r>
              <a:rPr sz="1875" b="0">
                <a:solidFill>
                  <a:srgbClr val="A8B6D1"/>
                </a:solidFill>
              </a:rPr>
              <a:t>Small enough for the workday.</a:t>
            </a:r>
          </a:p>
          <a:p xmlns:a="http://schemas.openxmlformats.org/drawingml/2006/main">
            <a:pPr algn="l">
              <a:defRPr sz="1875" b="0">
                <a:solidFill>
                  <a:srgbClr val="A8B6D1"/>
                </a:solidFill>
              </a:defRPr>
            </a:pPr>
            <a:r>
              <a:rPr sz="1875" b="0">
                <a:solidFill>
                  <a:srgbClr val="A8B6D1"/>
                </a:solidFill>
              </a:rPr>
              <a:t>Practical enough to remember.</a:t>
            </a:r>
          </a:p>
          <a:p xmlns:a="http://schemas.openxmlformats.org/drawingml/2006/main">
            <a:pPr algn="l">
              <a:defRPr sz="1875" b="0">
                <a:solidFill>
                  <a:srgbClr val="A8B6D1"/>
                </a:solidFill>
              </a:defRPr>
            </a:pPr>
            <a:r>
              <a:rPr sz="1875" b="0">
                <a:solidFill>
                  <a:srgbClr val="A8B6D1"/>
                </a:solidFill>
              </a:rPr>
              <a:t>Structured for enterprise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F1C37-A7D6-45B4-8034-4FF04165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625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6134D-1E01-4B5C-9FAF-DBF3A717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292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OUR 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F750B-A429-4C03-B045-4AAEE84E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9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F"/>
                </a:solidFill>
              </a:defRPr>
            </a:pPr>
            <a:r>
              <a:rPr sz="2250" b="1">
                <a:solidFill>
                  <a:srgbClr val="F4F7FF"/>
                </a:solidFill>
              </a:rPr>
              <a:t>Support a controlled v1.0 pilot.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BECCB-63F2-4F9F-B09C-E2FBBF9E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531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2A2"/>
                </a:solidFill>
              </a:defRPr>
            </a:pPr>
            <a:r>
              <a:rPr sz="1050" b="0">
                <a:solidFill>
                  <a:srgbClr val="7182A2"/>
                </a:solidFill>
              </a:rPr>
              <a:t>Tran, Victoria  •  Edupuganti, Kranthima  •  Griffin, Trey</a:t>
            </a:r>
          </a:p>
          <a:p xmlns:a="http://schemas.openxmlformats.org/drawingml/2006/main">
            <a:pPr algn="ctr">
              <a:defRPr sz="1050" b="0">
                <a:solidFill>
                  <a:srgbClr val="7182A2"/>
                </a:solidFill>
              </a:defRPr>
            </a:pPr>
            <a:r>
              <a:rPr sz="1050" b="0">
                <a:solidFill>
                  <a:srgbClr val="7182A2"/>
                </a:solidFill>
              </a:rPr>
              <a:t>Neel, Jeffrey  •  Talley, Kyle  •  Patel, Shrenik</a:t>
            </a:r>
          </a:p>
        </p:txBody>
      </p:sp>
    </p:spTree>
    <p:extLst>
      <p:ext uri="{BB962C8B-B14F-4D97-AF65-F5344CB8AC3E}">
        <p14:creationId xmlns:p14="http://schemas.microsoft.com/office/powerpoint/2010/main" val="1930782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2026-09-03T17:51:57.0030000Z</dcterms:created>
  <dcterms:modified xsi:type="dcterms:W3CDTF">2026-09-03T17:51:57.0030000Z</dcterms:modified>
</coreProperties>
</file>